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F7FE6"/>
                </a:solidFill>
                <a:latin typeface="Arial"/>
              </a:defRPr>
            </a:pPr>
            <a:r>
              <a:t>SentrySwarm AI</a:t>
            </a:r>
          </a:p>
          <a:p>
            <a:pPr>
              <a:spcBef>
                <a:spcPts val="1000"/>
              </a:spcBef>
              <a:defRPr sz="2400">
                <a:solidFill>
                  <a:srgbClr val="0D1828"/>
                </a:solidFill>
                <a:latin typeface="Arial"/>
              </a:defRPr>
            </a:pPr>
            <a:r>
              <a:t>Autonomous Incident Diagnosis Swarm</a:t>
            </a:r>
          </a:p>
          <a:p>
            <a:pPr>
              <a:spcBef>
                <a:spcPts val="4000"/>
              </a:spcBef>
              <a:defRPr sz="1400">
                <a:solidFill>
                  <a:srgbClr val="66768F"/>
                </a:solidFill>
                <a:latin typeface="Arial"/>
              </a:defRPr>
            </a:pPr>
            <a:r>
              <a:t>Microsoft Build AI Hackathon  ·  Theme: Agent Swarms</a:t>
            </a:r>
          </a:p>
          <a:p>
            <a:pPr>
              <a:spcBef>
                <a:spcPts val="2000"/>
              </a:spcBef>
              <a:defRPr sz="1600" b="1">
                <a:solidFill>
                  <a:srgbClr val="0D1828"/>
                </a:solidFill>
                <a:latin typeface="Arial"/>
              </a:defRPr>
            </a:pPr>
            <a:r>
              <a:t>Developed by: Avinash Yadav &amp; Darshan Ghorpade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FE6"/>
                </a:solidFill>
                <a:latin typeface="Arial"/>
              </a:defRPr>
            </a:pPr>
            <a:r>
              <a:t>Outage Diagnosis is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D1828"/>
                </a:solidFill>
                <a:latin typeface="Arial"/>
              </a:defRPr>
            </a:pPr>
            <a:r>
              <a:t>The Modern War-Room Challenge</a:t>
            </a:r>
          </a:p>
          <a:p>
            <a:pPr>
              <a:spcBef>
                <a:spcPts val="800"/>
              </a:spcBef>
              <a:defRPr sz="1400">
                <a:solidFill>
                  <a:srgbClr val="66768F"/>
                </a:solidFill>
                <a:latin typeface="Arial"/>
              </a:defRPr>
            </a:pPr>
            <a:r>
              <a:t>• Production outages cost businesses thousands of dollars per minute.</a:t>
            </a:r>
          </a:p>
          <a:p>
            <a:pPr>
              <a:spcBef>
                <a:spcPts val="800"/>
              </a:spcBef>
              <a:defRPr sz="1400">
                <a:solidFill>
                  <a:srgbClr val="66768F"/>
                </a:solidFill>
                <a:latin typeface="Arial"/>
              </a:defRPr>
            </a:pPr>
            <a:r>
              <a:t>• Manual triage is slow, fragmented, and prone to developer bias or guessing.</a:t>
            </a:r>
          </a:p>
          <a:p>
            <a:pPr>
              <a:spcBef>
                <a:spcPts val="800"/>
              </a:spcBef>
              <a:defRPr sz="1400">
                <a:solidFill>
                  <a:srgbClr val="66768F"/>
                </a:solidFill>
                <a:latin typeface="Arial"/>
              </a:defRPr>
            </a:pPr>
            <a:r>
              <a:t>• Traditional alert noise buries the real root cause in metrics and logs.</a:t>
            </a:r>
          </a:p>
          <a:p>
            <a:pPr>
              <a:spcBef>
                <a:spcPts val="800"/>
              </a:spcBef>
              <a:defRPr sz="1400">
                <a:solidFill>
                  <a:srgbClr val="66768F"/>
                </a:solidFill>
                <a:latin typeface="Arial"/>
              </a:defRPr>
            </a:pPr>
            <a:r>
              <a:t>• Single-agent AI systems fail on complex tasks—getting stuck in reasoning loops or accepting unverified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8288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A00"/>
                </a:solidFill>
                <a:latin typeface="Arial"/>
              </a:defRPr>
            </a:pPr>
            <a:r>
              <a:t>THE COST OF DELAY</a:t>
            </a:r>
          </a:p>
          <a:p>
            <a:pPr algn="ctr">
              <a:defRPr sz="5600" b="1">
                <a:solidFill>
                  <a:srgbClr val="E0445F"/>
                </a:solidFill>
                <a:latin typeface="Arial"/>
              </a:defRPr>
            </a:pPr>
            <a:r>
              <a:t>High MTTR</a:t>
            </a:r>
          </a:p>
          <a:p>
            <a:pPr algn="ctr">
              <a:defRPr sz="1400">
                <a:solidFill>
                  <a:srgbClr val="66768F"/>
                </a:solidFill>
                <a:latin typeface="Arial"/>
              </a:defRPr>
            </a:pPr>
            <a:r>
              <a:t>(Mean Time To Resolution)</a:t>
            </a:r>
            <a:br/>
            <a:r>
              <a:t>leads to SLA breaches and damaged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FE6"/>
                </a:solidFill>
                <a:latin typeface="Arial"/>
              </a:defRPr>
            </a:pPr>
            <a:r>
              <a:t>The Solution: SentrySwarm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latin typeface="Arial"/>
              </a:defRPr>
            </a:pPr>
            <a:r>
              <a:t>🧭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2F7FE6"/>
                </a:solidFill>
                <a:latin typeface="Arial"/>
              </a:defRPr>
            </a:pPr>
            <a:r>
              <a:t>1. Triage</a:t>
            </a:r>
          </a:p>
          <a:p>
            <a:pPr algn="l">
              <a:spcBef>
                <a:spcPts val="600"/>
              </a:spcBef>
              <a:defRPr sz="1150">
                <a:solidFill>
                  <a:srgbClr val="0D1828"/>
                </a:solidFill>
                <a:latin typeface="Arial"/>
              </a:defRPr>
            </a:pPr>
            <a:r>
              <a:t>Classifies the outage severity, defines the focus parameters, and spawns the investigator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latin typeface="Arial"/>
              </a:defRPr>
            </a:pPr>
            <a:r>
              <a:t>💡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0FA9BD"/>
                </a:solidFill>
                <a:latin typeface="Arial"/>
              </a:defRPr>
            </a:pPr>
            <a:r>
              <a:t>2. Hypotheses</a:t>
            </a:r>
          </a:p>
          <a:p>
            <a:pPr algn="l">
              <a:spcBef>
                <a:spcPts val="600"/>
              </a:spcBef>
              <a:defRPr sz="1150">
                <a:solidFill>
                  <a:srgbClr val="0D1828"/>
                </a:solidFill>
                <a:latin typeface="Arial"/>
              </a:defRPr>
            </a:pPr>
            <a:r>
              <a:t>Multiple agents run in parallel, each independently chasing a distinct potential root cause angle.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64592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latin typeface="Arial"/>
              </a:defRPr>
            </a:pPr>
            <a:r>
              <a:t>🔍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15A35A"/>
                </a:solidFill>
                <a:latin typeface="Arial"/>
              </a:defRPr>
            </a:pPr>
            <a:r>
              <a:t>3. Evidence</a:t>
            </a:r>
          </a:p>
          <a:p>
            <a:pPr algn="l">
              <a:spcBef>
                <a:spcPts val="600"/>
              </a:spcBef>
              <a:defRPr sz="1150">
                <a:solidFill>
                  <a:srgbClr val="0D1828"/>
                </a:solidFill>
                <a:latin typeface="Arial"/>
              </a:defRPr>
            </a:pPr>
            <a:r>
              <a:t>Scours logs and metrics in parallel to compile factual supporting &amp; contradicting data for each theory.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latin typeface="Arial"/>
              </a:defRPr>
            </a:pPr>
            <a:r>
              <a:t>⚔️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7A5CFF"/>
                </a:solidFill>
                <a:latin typeface="Arial"/>
              </a:defRPr>
            </a:pPr>
            <a:r>
              <a:t>4. Critic</a:t>
            </a:r>
          </a:p>
          <a:p>
            <a:pPr algn="l">
              <a:spcBef>
                <a:spcPts val="600"/>
              </a:spcBef>
              <a:defRPr sz="1150">
                <a:solidFill>
                  <a:srgbClr val="0D1828"/>
                </a:solidFill>
                <a:latin typeface="Arial"/>
              </a:defRPr>
            </a:pPr>
            <a:r>
              <a:t>Acts as a red-team validator, challenging the weak logic and testing assumptions of every hypothesis.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64592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latin typeface="Arial"/>
              </a:defRPr>
            </a:pPr>
            <a:r>
              <a:t>⚖️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E08A00"/>
                </a:solidFill>
                <a:latin typeface="Arial"/>
              </a:defRPr>
            </a:pPr>
            <a:r>
              <a:t>5. Judge</a:t>
            </a:r>
          </a:p>
          <a:p>
            <a:pPr algn="l">
              <a:spcBef>
                <a:spcPts val="600"/>
              </a:spcBef>
              <a:defRPr sz="1150">
                <a:solidFill>
                  <a:srgbClr val="0D1828"/>
                </a:solidFill>
                <a:latin typeface="Arial"/>
              </a:defRPr>
            </a:pPr>
            <a:r>
              <a:t>Weighs the evidence and critic attacks to deliver the final root cause verdict and remediation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FE6"/>
                </a:solidFill>
                <a:latin typeface="Arial"/>
              </a:defRPr>
            </a:pPr>
            <a:r>
              <a:t>Key Technical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F7FE6"/>
                </a:solidFill>
                <a:latin typeface="Arial"/>
              </a:defRPr>
            </a:pPr>
            <a:r>
              <a:t>🚀  WebSocket Real-Time Visualization</a:t>
            </a:r>
          </a:p>
          <a:p>
            <a:pPr>
              <a:spcBef>
                <a:spcPts val="400"/>
              </a:spcBef>
              <a:defRPr sz="1300">
                <a:solidFill>
                  <a:srgbClr val="0D1828"/>
                </a:solidFill>
                <a:latin typeface="Arial"/>
              </a:defRPr>
            </a:pPr>
            <a:r>
              <a:t>A responsive, client-side SVG node graph renders live token streaming in real-time, allowing on-call teams to monitor the swarm's exact line of reasoning as it happens.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F7FE6"/>
                </a:solidFill>
                <a:latin typeface="Arial"/>
              </a:defRPr>
            </a:pPr>
            <a:r>
              <a:t>🚀  Multi-Model Dynamic Routing</a:t>
            </a:r>
          </a:p>
          <a:p>
            <a:pPr>
              <a:spcBef>
                <a:spcPts val="400"/>
              </a:spcBef>
              <a:defRPr sz="1300">
                <a:solidFill>
                  <a:srgbClr val="0D1828"/>
                </a:solidFill>
                <a:latin typeface="Arial"/>
              </a:defRPr>
            </a:pPr>
            <a:r>
              <a:t>Context-propagating routing dynamically leverages the strengths of multiple state-of-the-art models (Google Gemma 4, Gemini 3.5 Flash, Gemini 3.1 Pro, and Anthropic Claude 4.6 Sonnet).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F7FE6"/>
                </a:solidFill>
                <a:latin typeface="Arial"/>
              </a:defRPr>
            </a:pPr>
            <a:r>
              <a:t>🚀  Interactive Out-of-Band Retries</a:t>
            </a:r>
          </a:p>
          <a:p>
            <a:pPr>
              <a:spcBef>
                <a:spcPts val="400"/>
              </a:spcBef>
              <a:defRPr sz="1300">
                <a:solidFill>
                  <a:srgbClr val="0D1828"/>
                </a:solidFill>
                <a:latin typeface="Arial"/>
              </a:defRPr>
            </a:pPr>
            <a:r>
              <a:t>Allows human operators to click a retry button on any card to rerun specific steps (e.g. gathering evidence under a new model) without resetting the entire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F7FE6"/>
                </a:solidFill>
                <a:latin typeface="Arial"/>
              </a:defRPr>
            </a:pPr>
            <a:r>
              <a:t>🚀  Zero-Config local privacy</a:t>
            </a:r>
          </a:p>
          <a:p>
            <a:pPr>
              <a:spcBef>
                <a:spcPts val="400"/>
              </a:spcBef>
              <a:defRPr sz="1300">
                <a:solidFill>
                  <a:srgbClr val="0D1828"/>
                </a:solidFill>
                <a:latin typeface="Arial"/>
              </a:defRPr>
            </a:pPr>
            <a:r>
              <a:t>API keys are managed securely on the client-side via browser localStorage and passed directly to WebSocket execution, eliminating server-side credential leaks.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FE6"/>
                </a:solidFill>
                <a:latin typeface="Arial"/>
              </a:defRPr>
            </a:pPr>
            <a:r>
              <a:t>Quick Start &amp;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D1828"/>
                </a:solidFill>
                <a:latin typeface="Arial"/>
              </a:defRPr>
            </a:pPr>
            <a:r>
              <a:t>Setup &amp; Running Instructions</a:t>
            </a:r>
          </a:p>
          <a:p>
            <a:pPr>
              <a:spcBef>
                <a:spcPts val="800"/>
              </a:spcBef>
              <a:defRPr sz="1150">
                <a:solidFill>
                  <a:srgbClr val="66768F"/>
                </a:solidFill>
                <a:latin typeface="Consolas"/>
              </a:defRPr>
            </a:pPr>
            <a:r>
              <a:t>1. Clone the project code:</a:t>
            </a:r>
            <a:br/>
            <a:r>
              <a:t>   git clone https://github.com/AvizRepo/Sentry-Swarm-Agent.git</a:t>
            </a:r>
          </a:p>
          <a:p>
            <a:pPr>
              <a:spcBef>
                <a:spcPts val="800"/>
              </a:spcBef>
              <a:defRPr sz="1150">
                <a:solidFill>
                  <a:srgbClr val="66768F"/>
                </a:solidFill>
                <a:latin typeface="Consolas"/>
              </a:defRPr>
            </a:pPr>
            <a:r>
              <a:t>2. Install python dependencies:</a:t>
            </a:r>
            <a:br/>
            <a:r>
              <a:t>   pip install -r requirements.txt</a:t>
            </a:r>
          </a:p>
          <a:p>
            <a:pPr>
              <a:spcBef>
                <a:spcPts val="800"/>
              </a:spcBef>
              <a:defRPr sz="1150">
                <a:solidFill>
                  <a:srgbClr val="66768F"/>
                </a:solidFill>
                <a:latin typeface="Consolas"/>
              </a:defRPr>
            </a:pPr>
            <a:r>
              <a:t>3. Start FastAPI server:</a:t>
            </a:r>
            <a:br/>
            <a:r>
              <a:t>   cd backend &amp;&amp; uvicorn main:app --reload</a:t>
            </a:r>
          </a:p>
          <a:p>
            <a:pPr>
              <a:spcBef>
                <a:spcPts val="800"/>
              </a:spcBef>
              <a:defRPr sz="1150">
                <a:solidFill>
                  <a:srgbClr val="66768F"/>
                </a:solidFill>
                <a:latin typeface="Consolas"/>
              </a:defRPr>
            </a:pPr>
            <a:r>
              <a:t>4. Dockerized Run:</a:t>
            </a:r>
            <a:br/>
            <a:r>
              <a:t>   docker compose up --build</a:t>
            </a:r>
          </a:p>
          <a:p>
            <a:pPr>
              <a:spcBef>
                <a:spcPts val="800"/>
              </a:spcBef>
              <a:defRPr sz="1150">
                <a:solidFill>
                  <a:srgbClr val="66768F"/>
                </a:solidFill>
                <a:latin typeface="Consolas"/>
              </a:defRPr>
            </a:pPr>
            <a:r>
              <a:t>5. Access UI at http://localhost:8000, add API keys in Key settings, pick a preset incident and run!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D1828"/>
                </a:solidFill>
                <a:latin typeface="Arial"/>
              </a:defRPr>
            </a:pPr>
            <a:r>
              <a:t>Swarm Topology</a:t>
            </a:r>
          </a:p>
          <a:p>
            <a:pPr>
              <a:spcBef>
                <a:spcPts val="1000"/>
              </a:spcBef>
              <a:defRPr sz="1300" b="1">
                <a:solidFill>
                  <a:srgbClr val="2F7FE6"/>
                </a:solidFill>
                <a:latin typeface="Consolas"/>
              </a:defRPr>
            </a:pPr>
            <a:r>
              <a:t>  [Triage Agent]</a:t>
            </a:r>
            <a:br/>
            <a:r>
              <a:t>        │</a:t>
            </a:r>
            <a:br/>
            <a:r>
              <a:t>  ┌─────┼─────┐   (Parallel Execution)</a:t>
            </a:r>
            <a:br/>
            <a:r>
              <a:t>  ▼     ▼     ▼</a:t>
            </a:r>
            <a:br/>
            <a:r>
              <a:t>[Hyp1] [Hyp2] [Hyp3]</a:t>
            </a:r>
            <a:br/>
            <a:r>
              <a:t>  │     │     │</a:t>
            </a:r>
            <a:br/>
            <a:r>
              <a:t>  ▼     ▼     ▼</a:t>
            </a:r>
            <a:br/>
            <a:r>
              <a:t>[Ev1]  [Ev2]  [Ev3]</a:t>
            </a:r>
            <a:br/>
            <a:r>
              <a:t>  └─────┼─────┘</a:t>
            </a:r>
            <a:br/>
            <a:r>
              <a:t>        ▼</a:t>
            </a:r>
            <a:br/>
            <a:r>
              <a:t>  [Critic Agent]  (Adversarial Attacks)</a:t>
            </a:r>
            <a:br/>
            <a:r>
              <a:t>        │</a:t>
            </a:r>
            <a:br/>
            <a:r>
              <a:t>        ▼</a:t>
            </a:r>
            <a:br/>
            <a:r>
              <a:t>  [Judge Agent]   (Root Cause + Remediation)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