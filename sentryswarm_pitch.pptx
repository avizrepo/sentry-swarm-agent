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B9C4"/>
                </a:solidFill>
                <a:latin typeface="Segoe UI"/>
              </a:defRPr>
            </a:pPr>
            <a:r>
              <a:t>MICROSOFT BUILD AI HACKATHON  ·  THEME: AGENT SWARMS</a:t>
            </a:r>
          </a:p>
          <a:p>
            <a:pPr>
              <a:spcAft>
                <a:spcPts val="400"/>
              </a:spcAft>
              <a:defRPr sz="6400" b="1">
                <a:solidFill>
                  <a:srgbClr val="FFFFFF"/>
                </a:solidFill>
                <a:latin typeface="Segoe UI"/>
              </a:defRPr>
            </a:pPr>
            <a:r>
              <a:t>SentrySwarm AI</a:t>
            </a:r>
          </a:p>
          <a:p>
            <a:pPr>
              <a:spcAft>
                <a:spcPts val="2400"/>
              </a:spcAft>
              <a:defRPr sz="2200">
                <a:solidFill>
                  <a:srgbClr val="3B82F6"/>
                </a:solidFill>
                <a:latin typeface="Segoe UI"/>
              </a:defRPr>
            </a:pPr>
            <a:r>
              <a:t>Autonomous Outage Diagnosis &amp; Resolution</a:t>
            </a:r>
          </a:p>
          <a:p>
            <a:pPr>
              <a:spcAft>
                <a:spcPts val="3600"/>
              </a:spcAft>
              <a:defRPr sz="1500">
                <a:solidFill>
                  <a:srgbClr val="A5B4CE"/>
                </a:solidFill>
                <a:latin typeface="Segoe UI"/>
              </a:defRPr>
            </a:pPr>
            <a:r>
              <a:t>An orchestrator dispatching specialized AI agents that collaborate and debate in parallel to find outage root causes—live streamed in real time.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Developed by: Avinash Yadav &amp; Darshan Ghorpade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 bIns="182880"/>
          <a:lstStyle/>
          <a:p>
            <a:pPr algn="ctr">
              <a:defRPr sz="1300" b="1">
                <a:solidFill>
                  <a:srgbClr val="0FB9C4"/>
                </a:solidFill>
                <a:latin typeface="Consolas"/>
              </a:defRPr>
            </a:pPr>
            <a:r>
              <a:t>🧭 Triage Agent</a:t>
            </a:r>
            <a:br/>
            <a:r>
              <a:t>      │</a:t>
            </a:r>
            <a:br/>
            <a:r>
              <a:t>┌─────┴─────┐</a:t>
            </a:r>
            <a:br/>
            <a:r>
              <a:t>▼     ▼     ▼</a:t>
            </a:r>
            <a:br/>
            <a:r>
              <a:t>💡    💡    💡 (Hypotheses)</a:t>
            </a:r>
            <a:br/>
            <a:r>
              <a:t>│     │     │</a:t>
            </a:r>
            <a:br/>
            <a:r>
              <a:t>▼     ▼     ▼</a:t>
            </a:r>
            <a:br/>
            <a:r>
              <a:t>🔍    🔍    🔍 (Evidence)</a:t>
            </a:r>
            <a:br/>
            <a:r>
              <a:t>└─────┬─────┘</a:t>
            </a:r>
            <a:br/>
            <a:r>
              <a:t>      ▼</a:t>
            </a:r>
            <a:br/>
            <a:r>
              <a:t>⚔️ Critic Agent</a:t>
            </a:r>
            <a:br/>
            <a:r>
              <a:t>      │</a:t>
            </a:r>
            <a:br/>
            <a:r>
              <a:t>      ▼</a:t>
            </a:r>
            <a:br/>
            <a:r>
              <a:t>⚖️ Judge Verdict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SENTRYSWARM AI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Outage Diagnosis is Costly and Slow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800"/>
              </a:spcAft>
              <a:defRPr sz="2000" b="1">
                <a:solidFill>
                  <a:srgbClr val="EF4444"/>
                </a:solidFill>
                <a:latin typeface="Segoe UI"/>
              </a:defRPr>
            </a:pPr>
            <a:r>
              <a:t>🚨  The Crisis: High MTTR</a:t>
            </a:r>
          </a:p>
          <a:p>
            <a:pPr>
              <a:spcBef>
                <a:spcPts val="1200"/>
              </a:spcBef>
              <a:defRPr sz="1400">
                <a:solidFill>
                  <a:srgbClr val="A5B4CE"/>
                </a:solidFill>
                <a:latin typeface="Segoe UI"/>
              </a:defRPr>
            </a:pPr>
            <a:r>
              <a:t>•  System outages cost modern enterprises an average of $9,000 per minute.</a:t>
            </a:r>
          </a:p>
          <a:p>
            <a:pPr>
              <a:spcBef>
                <a:spcPts val="1200"/>
              </a:spcBef>
              <a:defRPr sz="1400">
                <a:solidFill>
                  <a:srgbClr val="A5B4CE"/>
                </a:solidFill>
                <a:latin typeface="Segoe UI"/>
              </a:defRPr>
            </a:pPr>
            <a:r>
              <a:t>•  Manual war-rooms suffer from cognitive overload, trying to read thousands of disconnected log entries and metrics simultaneously.</a:t>
            </a:r>
          </a:p>
          <a:p>
            <a:pPr>
              <a:spcBef>
                <a:spcPts val="1200"/>
              </a:spcBef>
              <a:defRPr sz="1400">
                <a:solidFill>
                  <a:srgbClr val="A5B4CE"/>
                </a:solidFill>
                <a:latin typeface="Segoe UI"/>
              </a:defRPr>
            </a:pPr>
            <a:r>
              <a:t>•  Incident responders rely on intuition and confirmation bias, leading to delayed remediation and prolonged downtime.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8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⚠️  The Limitation of Single AI Agents</a:t>
            </a:r>
          </a:p>
          <a:p>
            <a:pPr>
              <a:spcBef>
                <a:spcPts val="1200"/>
              </a:spcBef>
              <a:defRPr sz="1400">
                <a:solidFill>
                  <a:srgbClr val="A5B4CE"/>
                </a:solidFill>
                <a:latin typeface="Segoe UI"/>
              </a:defRPr>
            </a:pPr>
            <a:r>
              <a:t>•  A single AI agent with tools tends to accept its first assumption without validation.</a:t>
            </a:r>
          </a:p>
          <a:p>
            <a:pPr>
              <a:spcBef>
                <a:spcPts val="1200"/>
              </a:spcBef>
              <a:defRPr sz="1400">
                <a:solidFill>
                  <a:srgbClr val="A5B4CE"/>
                </a:solidFill>
                <a:latin typeface="Segoe UI"/>
              </a:defRPr>
            </a:pPr>
            <a:r>
              <a:t>•  Single-agent loops frequently get stuck, generating repeating tool-calling commands when faced with noise.</a:t>
            </a:r>
          </a:p>
          <a:p>
            <a:pPr>
              <a:spcBef>
                <a:spcPts val="1200"/>
              </a:spcBef>
              <a:defRPr sz="1400">
                <a:solidFill>
                  <a:srgbClr val="A5B4CE"/>
                </a:solidFill>
                <a:latin typeface="Segoe UI"/>
              </a:defRPr>
            </a:pPr>
            <a:r>
              <a:t>•  Without an adversarial counterpart, single LLM reasoning cannot guarantee defensible, hallucination-free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SENTRYSWARM AI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Collaborative SentrySwarm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42976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4000">
                <a:latin typeface="Segoe UI Symbol"/>
              </a:defRPr>
            </a:pPr>
            <a:r>
              <a:t>🧭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Triage</a:t>
            </a:r>
          </a:p>
          <a:p>
            <a:pPr algn="l">
              <a:spcBef>
                <a:spcPts val="6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Analyzes the initial alert symptoms, logs, and classifies severity. Spawns investigators.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16459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2734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645920"/>
            <a:ext cx="2011680" cy="42976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0FB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4000">
                <a:latin typeface="Segoe UI Symbol"/>
              </a:defRPr>
            </a:pPr>
            <a:r>
              <a:t>💡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0FB9C4"/>
                </a:solidFill>
                <a:latin typeface="Segoe UI"/>
              </a:defRPr>
            </a:pPr>
            <a:r>
              <a:t>Hypothesis</a:t>
            </a:r>
          </a:p>
          <a:p>
            <a:pPr algn="l">
              <a:spcBef>
                <a:spcPts val="6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N investigators run in parallel, formulating distinct root-cause possibilities from separate angles.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9472" y="3474720"/>
            <a:ext cx="16459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2734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42976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4000">
                <a:latin typeface="Segoe UI Symbol"/>
              </a:defRPr>
            </a:pPr>
            <a:r>
              <a:t>🔍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22C55E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Bef>
                <a:spcPts val="6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Fact-checks hypotheses by executing regex searches over production logs, separating signal from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5744" y="3474720"/>
            <a:ext cx="16459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2734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2011680" cy="42976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4000">
                <a:latin typeface="Segoe UI Symbol"/>
              </a:defRPr>
            </a:pPr>
            <a:r>
              <a:t>⚔️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8B5CF6"/>
                </a:solidFill>
                <a:latin typeface="Segoe UI"/>
              </a:defRPr>
            </a:pPr>
            <a:r>
              <a:t>Critic</a:t>
            </a:r>
          </a:p>
          <a:p>
            <a:pPr algn="l">
              <a:spcBef>
                <a:spcPts val="6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Red-teams hypotheses, exposing cognitive leaps, unverified claims, or unproven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2016" y="3474720"/>
            <a:ext cx="16459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2734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645920"/>
            <a:ext cx="2011680" cy="42976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4000">
                <a:latin typeface="Segoe UI Symbol"/>
              </a:defRPr>
            </a:pPr>
            <a:r>
              <a:t>⚖️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Judge</a:t>
            </a:r>
          </a:p>
          <a:p>
            <a:pPr algn="l">
              <a:spcBef>
                <a:spcPts val="6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Weighs hypotheses against evidence and critiques. Converges on verdict and remediation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SENTRYSWARM AI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Core Technical Innovations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⚡  Real-Time WebSocket Graph Rendering</a:t>
            </a:r>
          </a:p>
          <a:p>
            <a:pPr>
              <a:spcBef>
                <a:spcPts val="400"/>
              </a:spcBef>
              <a:defRPr sz="1300">
                <a:solidFill>
                  <a:srgbClr val="A5B4CE"/>
                </a:solidFill>
                <a:latin typeface="Segoe UI"/>
              </a:defRPr>
            </a:pPr>
            <a:r>
              <a:t>A customized vanilla HTML5 SVG graph engine aligns connections dynamically using requestAnimationFrame. streams agent output token-by-token directly to the canvas so developers watch the swarm think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⚡  Interactive Out-of-Band Rerun Retries</a:t>
            </a:r>
          </a:p>
          <a:p>
            <a:pPr>
              <a:spcBef>
                <a:spcPts val="400"/>
              </a:spcBef>
              <a:defRPr sz="1300">
                <a:solidFill>
                  <a:srgbClr val="A5B4CE"/>
                </a:solidFill>
                <a:latin typeface="Segoe UI"/>
              </a:defRPr>
            </a:pPr>
            <a:r>
              <a:t>A custom WebSocket payload handler captures user requests to retry specific nodes. It compiles current hypotheses and evidence states into a context bundle and runs individual agent tasks on the fly.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0FB9C4"/>
                </a:solidFill>
                <a:latin typeface="Segoe UI"/>
              </a:defRPr>
            </a:pPr>
            <a:r>
              <a:t>⚡  Multi-Model Context Propagation</a:t>
            </a:r>
          </a:p>
          <a:p>
            <a:pPr>
              <a:spcBef>
                <a:spcPts val="400"/>
              </a:spcBef>
              <a:defRPr sz="1300">
                <a:solidFill>
                  <a:srgbClr val="A5B4CE"/>
                </a:solidFill>
                <a:latin typeface="Segoe UI"/>
              </a:defRPr>
            </a:pPr>
            <a:r>
              <a:t>Leverages Python ContextVars to dynamically route calls across Gemini 3.5, Gemma 4, and Anthropic Claude models on a single execution thread without mutating core agent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8B5CF6"/>
                </a:solidFill>
                <a:latin typeface="Segoe UI"/>
              </a:defRPr>
            </a:pPr>
            <a:r>
              <a:t>⚡  Zero-Config Client-Side Privacy</a:t>
            </a:r>
          </a:p>
          <a:p>
            <a:pPr>
              <a:spcBef>
                <a:spcPts val="400"/>
              </a:spcBef>
              <a:defRPr sz="1300">
                <a:solidFill>
                  <a:srgbClr val="A5B4CE"/>
                </a:solidFill>
                <a:latin typeface="Segoe UI"/>
              </a:defRPr>
            </a:pPr>
            <a:r>
              <a:t>Keeps API keys out of backend database storage. Keys are configured locally, stored in the browser's localStorage, and securely injected during WebSocket 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SENTRYSWARM AI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Execution, Live Demo &amp;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22C55E"/>
                </a:solidFill>
                <a:latin typeface="Segoe UI"/>
              </a:defRPr>
            </a:pPr>
            <a:r>
              <a:t>🎯  Built-in Incident: INC-4821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Includes realistic test cases to demonstrate Swarm reasoning:</a:t>
            </a:r>
          </a:p>
          <a:p>
            <a:pPr>
              <a:spcBef>
                <a:spcPts val="800"/>
              </a:spcBef>
              <a:defRPr sz="1250">
                <a:solidFill>
                  <a:srgbClr val="A5B4CE"/>
                </a:solidFill>
                <a:latin typeface="Segoe UI"/>
              </a:defRPr>
            </a:pPr>
            <a:r>
              <a:t>✔  Outage Symptom: Latency spike and elevated 500 errors on checkout service.</a:t>
            </a:r>
          </a:p>
          <a:p>
            <a:pPr>
              <a:spcBef>
                <a:spcPts val="800"/>
              </a:spcBef>
              <a:defRPr sz="1250">
                <a:solidFill>
                  <a:srgbClr val="A5B4CE"/>
                </a:solidFill>
                <a:latin typeface="Segoe UI"/>
              </a:defRPr>
            </a:pPr>
            <a:r>
              <a:t>✔  Root Cause: A database deployment changes max connections from 50 to 10.</a:t>
            </a:r>
          </a:p>
          <a:p>
            <a:pPr>
              <a:spcBef>
                <a:spcPts val="800"/>
              </a:spcBef>
              <a:defRPr sz="1250">
                <a:solidFill>
                  <a:srgbClr val="A5B4CE"/>
                </a:solidFill>
                <a:latin typeface="Segoe UI"/>
              </a:defRPr>
            </a:pPr>
            <a:r>
              <a:t>✔  Red Herrings: Placed fake Redis key-eviction logs and payment gateway gateway-timeout warnings.</a:t>
            </a:r>
          </a:p>
          <a:p>
            <a:pPr>
              <a:spcBef>
                <a:spcPts val="800"/>
              </a:spcBef>
              <a:defRPr sz="1250">
                <a:solidFill>
                  <a:srgbClr val="A5B4CE"/>
                </a:solidFill>
                <a:latin typeface="Segoe UI"/>
              </a:defRPr>
            </a:pPr>
            <a:r>
              <a:t>✔  Outcome: SentrySwarm's Critic successfully rejects the red herrings, and the Judge pinpoints connection-pool exhaustion.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27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3B82F6"/>
                </a:solidFill>
                <a:latin typeface="Segoe UI"/>
              </a:defRPr>
            </a:pPr>
            <a:r>
              <a:t>⚙  Deploy &amp; Run SentrySwarm</a:t>
            </a:r>
          </a:p>
          <a:p>
            <a:pPr>
              <a:spcBef>
                <a:spcPts val="10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1. Clone the project code:</a:t>
            </a:r>
            <a:br/>
            <a:r>
              <a:t>   git clone https://github.com/AvizRepo/Sentry-Swarm-Agent.git</a:t>
            </a:r>
          </a:p>
          <a:p>
            <a:pPr>
              <a:spcBef>
                <a:spcPts val="10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2. Run locally via Python:</a:t>
            </a:r>
            <a:br/>
            <a:r>
              <a:t>   pip install -r requirements.txt</a:t>
            </a:r>
            <a:br/>
            <a:r>
              <a:t>   cd backend &amp;&amp; uvicorn main:app --reload</a:t>
            </a:r>
          </a:p>
          <a:p>
            <a:pPr>
              <a:spcBef>
                <a:spcPts val="10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3. Run via Docker Compose:</a:t>
            </a:r>
            <a:br/>
            <a:r>
              <a:t>   docker compose up --build</a:t>
            </a:r>
          </a:p>
          <a:p>
            <a:pPr>
              <a:spcBef>
                <a:spcPts val="1000"/>
              </a:spcBef>
              <a:defRPr sz="1200">
                <a:solidFill>
                  <a:srgbClr val="A5B4CE"/>
                </a:solidFill>
                <a:latin typeface="Segoe UI"/>
              </a:defRPr>
            </a:pPr>
            <a:r>
              <a:t>4. Setup Keys &amp; Diagnose:</a:t>
            </a:r>
            <a:br/>
            <a:r>
              <a:t>   Open http://localhost:8000, add API keys in '🔑 Key' modal, and click 'Run Swarm'.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