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68580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FB9C4"/>
                </a:solidFill>
                <a:latin typeface="Segoe UI"/>
              </a:defRPr>
            </a:pPr>
            <a:r>
              <a:t>MICROSOFT BUILD AI HACKATHON  ·  THEME: AGENT SWARMS</a:t>
            </a:r>
          </a:p>
          <a:p>
            <a:pPr>
              <a:spcAft>
                <a:spcPts val="400"/>
              </a:spcAft>
              <a:defRPr sz="6400" b="1">
                <a:solidFill>
                  <a:srgbClr val="FFFFFF"/>
                </a:solidFill>
                <a:latin typeface="Segoe UI"/>
              </a:defRPr>
            </a:pPr>
            <a:r>
              <a:t>SentrySwarm AI</a:t>
            </a:r>
          </a:p>
          <a:p>
            <a:pPr>
              <a:spcAft>
                <a:spcPts val="2400"/>
              </a:spcAft>
              <a:defRPr sz="2200">
                <a:solidFill>
                  <a:srgbClr val="3B82F6"/>
                </a:solidFill>
                <a:latin typeface="Segoe UI"/>
              </a:defRPr>
            </a:pPr>
            <a:r>
              <a:t>Autonomous Outage Diagnosis &amp; Resolution</a:t>
            </a:r>
          </a:p>
          <a:p>
            <a:pPr>
              <a:spcAft>
                <a:spcPts val="3600"/>
              </a:spcAft>
              <a:defRPr sz="1500">
                <a:solidFill>
                  <a:srgbClr val="A5B4CE"/>
                </a:solidFill>
                <a:latin typeface="Segoe UI"/>
              </a:defRPr>
            </a:pPr>
            <a:r>
              <a:t>An orchestrator dispatching specialized AI agents that collaborate and debate in parallel to find outage root causes—live streamed in real time.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Developed by: Avinash Yadav &amp; Darshan Ghorpade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0" y="1645920"/>
            <a:ext cx="4156682" cy="4114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457200" rIns="182880" bIns="182880" rtlCol="0" anchor="ctr"/>
          <a:lstStyle/>
          <a:p>
            <a:pPr algn="ctr">
              <a:defRPr sz="1300" b="1">
                <a:solidFill>
                  <a:srgbClr val="0FB9C4"/>
                </a:solidFill>
                <a:latin typeface="Consolas"/>
              </a:defRPr>
            </a:pPr>
            <a:r>
              <a:rPr dirty="0"/>
              <a:t>🧭 Triage Agent</a:t>
            </a:r>
            <a:br>
              <a:rPr dirty="0"/>
            </a:br>
            <a:r>
              <a:rPr dirty="0"/>
              <a:t>│</a:t>
            </a:r>
            <a:br>
              <a:rPr lang="en-IN" dirty="0"/>
            </a:br>
            <a:r>
              <a:rPr dirty="0"/>
              <a:t>┌─────┴─────┐</a:t>
            </a:r>
            <a:br>
              <a:rPr dirty="0"/>
            </a:br>
            <a:r>
              <a:rPr dirty="0"/>
              <a:t>▼     ▼     ▼</a:t>
            </a:r>
            <a:br>
              <a:rPr dirty="0"/>
            </a:br>
            <a:r>
              <a:rPr lang="en-US" dirty="0"/>
              <a:t>         </a:t>
            </a:r>
            <a:r>
              <a:rPr dirty="0"/>
              <a:t>💡   </a:t>
            </a:r>
            <a:r>
              <a:rPr lang="en-US" dirty="0"/>
              <a:t> </a:t>
            </a:r>
            <a:r>
              <a:rPr dirty="0"/>
              <a:t>💡   </a:t>
            </a:r>
            <a:r>
              <a:rPr lang="en-IN" dirty="0"/>
              <a:t>💡</a:t>
            </a:r>
            <a:r>
              <a:rPr dirty="0"/>
              <a:t>Hypotheses</a:t>
            </a:r>
            <a:br>
              <a:rPr dirty="0"/>
            </a:br>
            <a:r>
              <a:rPr dirty="0"/>
              <a:t>│     │     │</a:t>
            </a:r>
            <a:br>
              <a:rPr dirty="0"/>
            </a:br>
            <a:r>
              <a:rPr dirty="0"/>
              <a:t>▼     ▼     ▼</a:t>
            </a:r>
            <a:br>
              <a:rPr dirty="0"/>
            </a:br>
            <a:r>
              <a:rPr lang="en-US" dirty="0"/>
              <a:t>         </a:t>
            </a:r>
            <a:r>
              <a:rPr dirty="0"/>
              <a:t>🔍    🔍   🔍</a:t>
            </a:r>
            <a:r>
              <a:rPr lang="en-US" dirty="0"/>
              <a:t> </a:t>
            </a:r>
            <a:r>
              <a:rPr dirty="0"/>
              <a:t>Evidence</a:t>
            </a:r>
            <a:br>
              <a:rPr dirty="0"/>
            </a:br>
            <a:r>
              <a:rPr dirty="0"/>
              <a:t>└─────┬─────</a:t>
            </a:r>
            <a:r>
              <a:rPr lang="en-IN" dirty="0"/>
              <a:t>┘</a:t>
            </a:r>
            <a:br>
              <a:rPr lang="en-IN" dirty="0"/>
            </a:br>
            <a:r>
              <a:rPr dirty="0"/>
              <a:t>▼</a:t>
            </a:r>
            <a:br>
              <a:rPr dirty="0"/>
            </a:br>
            <a:r>
              <a:rPr dirty="0"/>
              <a:t>⚔️ Critic Agent</a:t>
            </a:r>
            <a:br>
              <a:rPr dirty="0"/>
            </a:br>
            <a:r>
              <a:rPr dirty="0"/>
              <a:t>│</a:t>
            </a:r>
            <a:br>
              <a:rPr lang="en-IN" dirty="0"/>
            </a:br>
            <a:r>
              <a:rPr dirty="0"/>
              <a:t>▼</a:t>
            </a:r>
            <a:br>
              <a:rPr dirty="0"/>
            </a:br>
            <a:r>
              <a:rPr dirty="0"/>
              <a:t>⚖️ Judge Verdict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SENTRYSWARM AI</a:t>
            </a:r>
          </a:p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Outage Diagnosis is Costly and Slow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800"/>
              </a:spcAft>
              <a:defRPr sz="2000" b="1">
                <a:solidFill>
                  <a:srgbClr val="EF4444"/>
                </a:solidFill>
                <a:latin typeface="Segoe UI"/>
              </a:defRPr>
            </a:pPr>
            <a:r>
              <a:t>🚨  The Crisis: High MTTR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System outages cost modern enterprises an average of $9,000 per minute.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Manual war-rooms suffer from cognitive overload, trying to read thousands of disconnected log entries and metrics simultaneously.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Incident responders rely on intuition and confirmation bias, leading to delayed remediation and prolonged downtime.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463040"/>
            <a:ext cx="5120640" cy="45720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800"/>
              </a:spcAft>
              <a:defRPr sz="2000" b="1">
                <a:solidFill>
                  <a:srgbClr val="F59E0B"/>
                </a:solidFill>
                <a:latin typeface="Segoe UI"/>
              </a:defRPr>
            </a:pPr>
            <a:r>
              <a:t>⚠️  The Limitation of Single AI Agents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A single AI agent with tools tends to accept its first assumption without validation.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Single-agent loops frequently get stuck, generating repeating tool-calling commands when faced with noise.</a:t>
            </a:r>
          </a:p>
          <a:p>
            <a:pPr>
              <a:spcBef>
                <a:spcPts val="1200"/>
              </a:spcBef>
              <a:defRPr sz="1400">
                <a:solidFill>
                  <a:srgbClr val="A5B4CE"/>
                </a:solidFill>
                <a:latin typeface="Segoe UI"/>
              </a:defRPr>
            </a:pPr>
            <a:r>
              <a:t>•  Without an adversarial counterpart, single LLM reasoning cannot guarantee defensible, hallucination-free answers.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SENTRYSWARM AI</a:t>
            </a:r>
          </a:p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Collaborative SentrySwarm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011680" cy="42976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4000">
                <a:latin typeface="Segoe UI Symbol"/>
              </a:defRPr>
            </a:pPr>
            <a:r>
              <a:t>🧭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800" b="1">
                <a:solidFill>
                  <a:srgbClr val="3B82F6"/>
                </a:solidFill>
                <a:latin typeface="Segoe UI"/>
              </a:defRPr>
            </a:pPr>
            <a:r>
              <a:t>Triage</a:t>
            </a:r>
          </a:p>
          <a:p>
            <a:pPr algn="l">
              <a:spcBef>
                <a:spcPts val="6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Analyzes the initial alert symptoms, logs, and classifies severity. Spawns investigators.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164592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27345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2" y="1645920"/>
            <a:ext cx="2011680" cy="42976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0FB9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4000">
                <a:latin typeface="Segoe UI Symbol"/>
              </a:defRPr>
            </a:pPr>
            <a:r>
              <a:t>💡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800" b="1">
                <a:solidFill>
                  <a:srgbClr val="0FB9C4"/>
                </a:solidFill>
                <a:latin typeface="Segoe UI"/>
              </a:defRPr>
            </a:pPr>
            <a:r>
              <a:t>Hypothesis</a:t>
            </a:r>
          </a:p>
          <a:p>
            <a:pPr algn="l">
              <a:spcBef>
                <a:spcPts val="6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N investigators run in parallel, formulating distinct root-cause possibilities from separate angles.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9472" y="3474720"/>
            <a:ext cx="164592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27345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645920"/>
            <a:ext cx="2011680" cy="42976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4000">
                <a:latin typeface="Segoe UI Symbol"/>
              </a:defRPr>
            </a:pPr>
            <a:r>
              <a:t>🔍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800" b="1">
                <a:solidFill>
                  <a:srgbClr val="22C55E"/>
                </a:solidFill>
                <a:latin typeface="Segoe UI"/>
              </a:defRPr>
            </a:pPr>
            <a:r>
              <a:t>Evidence</a:t>
            </a:r>
          </a:p>
          <a:p>
            <a:pPr algn="l">
              <a:spcBef>
                <a:spcPts val="6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Fact-checks hypotheses by executing regex searches over production logs, separating signal from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5744" y="3474720"/>
            <a:ext cx="164592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27345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1645920"/>
            <a:ext cx="2011680" cy="42976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4000">
                <a:latin typeface="Segoe UI Symbol"/>
              </a:defRPr>
            </a:pPr>
            <a:r>
              <a:t>⚔️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800" b="1">
                <a:solidFill>
                  <a:srgbClr val="8B5CF6"/>
                </a:solidFill>
                <a:latin typeface="Segoe UI"/>
              </a:defRPr>
            </a:pPr>
            <a:r>
              <a:t>Critic</a:t>
            </a:r>
          </a:p>
          <a:p>
            <a:pPr algn="l">
              <a:spcBef>
                <a:spcPts val="6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Red-teams hypotheses, exposing cognitive leaps, unverified claims, or unproven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2016" y="3474720"/>
            <a:ext cx="164592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200" b="1">
                <a:solidFill>
                  <a:srgbClr val="27345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645920"/>
            <a:ext cx="2011680" cy="42976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defRPr sz="4000">
                <a:latin typeface="Segoe UI Symbol"/>
              </a:defRPr>
            </a:pPr>
            <a:r>
              <a:t>⚖️</a:t>
            </a:r>
          </a:p>
          <a:p>
            <a:pPr algn="ctr">
              <a:spcBef>
                <a:spcPts val="800"/>
              </a:spcBef>
              <a:spcAft>
                <a:spcPts val="1200"/>
              </a:spcAft>
              <a:defRPr sz="1800" b="1">
                <a:solidFill>
                  <a:srgbClr val="F59E0B"/>
                </a:solidFill>
                <a:latin typeface="Segoe UI"/>
              </a:defRPr>
            </a:pPr>
            <a:r>
              <a:t>Judge</a:t>
            </a:r>
          </a:p>
          <a:p>
            <a:pPr algn="l">
              <a:spcBef>
                <a:spcPts val="6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Weighs hypotheses against evidence and critiques. Converges on verdict and remediation script.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SENTRYSWARM AI</a:t>
            </a:r>
          </a:p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Core Technical Innovations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212080" cy="21031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3B82F6"/>
                </a:solidFill>
                <a:latin typeface="Segoe UI"/>
              </a:defRPr>
            </a:pPr>
            <a:r>
              <a:t>⚡  Real-Time WebSocket Graph Rendering</a:t>
            </a:r>
          </a:p>
          <a:p>
            <a:pPr>
              <a:spcBef>
                <a:spcPts val="400"/>
              </a:spcBef>
              <a:defRPr sz="1300">
                <a:solidFill>
                  <a:srgbClr val="A5B4CE"/>
                </a:solidFill>
                <a:latin typeface="Segoe UI"/>
              </a:defRPr>
            </a:pPr>
            <a:r>
              <a:t>A customized vanilla HTML5 SVG graph engine aligns connections dynamically using requestAnimationFrame. streams agent output token-by-token directly to the canvas so developers watch the swarm think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212080" cy="21031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22C55E"/>
                </a:solidFill>
                <a:latin typeface="Segoe UI"/>
              </a:defRPr>
            </a:pPr>
            <a:r>
              <a:t>⚡  Interactive Out-of-Band Rerun Retries</a:t>
            </a:r>
          </a:p>
          <a:p>
            <a:pPr>
              <a:spcBef>
                <a:spcPts val="400"/>
              </a:spcBef>
              <a:defRPr sz="1300">
                <a:solidFill>
                  <a:srgbClr val="A5B4CE"/>
                </a:solidFill>
                <a:latin typeface="Segoe UI"/>
              </a:defRPr>
            </a:pPr>
            <a:r>
              <a:t>A custom WebSocket payload handler captures user requests to retry specific nodes. It compiles current hypotheses and evidence states into a context bundle and runs individual agent tasks on the fly.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0FB9C4"/>
                </a:solidFill>
                <a:latin typeface="Segoe UI"/>
              </a:defRPr>
            </a:pPr>
            <a:r>
              <a:t>⚡  Multi-Model Context Propagation</a:t>
            </a:r>
          </a:p>
          <a:p>
            <a:pPr>
              <a:spcBef>
                <a:spcPts val="400"/>
              </a:spcBef>
              <a:defRPr sz="1300">
                <a:solidFill>
                  <a:srgbClr val="A5B4CE"/>
                </a:solidFill>
                <a:latin typeface="Segoe UI"/>
              </a:defRPr>
            </a:pPr>
            <a:r>
              <a:t>Leverages Python ContextVars to dynamically route calls across Gemini 3.5, Gemma 4, and Anthropic Claude models on a single execution thread without mutating core agent logic.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8B5CF6"/>
                </a:solidFill>
                <a:latin typeface="Segoe UI"/>
              </a:defRPr>
            </a:pPr>
            <a:r>
              <a:t>⚡  Zero-Config Client-Side Privacy</a:t>
            </a:r>
          </a:p>
          <a:p>
            <a:pPr>
              <a:spcBef>
                <a:spcPts val="400"/>
              </a:spcBef>
              <a:defRPr sz="1300">
                <a:solidFill>
                  <a:srgbClr val="A5B4CE"/>
                </a:solidFill>
                <a:latin typeface="Segoe UI"/>
              </a:defRPr>
            </a:pPr>
            <a:r>
              <a:t>Keeps API keys out of backend database storage. Keys are configured locally, stored in the browser's localStorage, and securely injected during WebSocket connections.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B82F6"/>
                </a:solidFill>
                <a:latin typeface="Segoe UI"/>
              </a:defRPr>
            </a:pPr>
            <a:r>
              <a:t>SENTRYSWARM AI</a:t>
            </a:r>
          </a:p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Execution, Live Demo &amp; Setup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400"/>
              </a:spcAft>
              <a:defRPr sz="2000" b="1">
                <a:solidFill>
                  <a:srgbClr val="22C55E"/>
                </a:solidFill>
                <a:latin typeface="Segoe UI"/>
              </a:defRPr>
            </a:pPr>
            <a:r>
              <a:rPr dirty="0"/>
              <a:t>🎯  Built-in Incident: INC-4821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Segoe UI"/>
              </a:defRPr>
            </a:pPr>
            <a:r>
              <a:rPr dirty="0"/>
              <a:t>Includes realistic test cases to demonstrate Swarm reasoning:</a:t>
            </a:r>
          </a:p>
          <a:p>
            <a:pPr>
              <a:spcBef>
                <a:spcPts val="800"/>
              </a:spcBef>
              <a:defRPr sz="1250">
                <a:solidFill>
                  <a:srgbClr val="A5B4CE"/>
                </a:solidFill>
                <a:latin typeface="Segoe UI"/>
              </a:defRPr>
            </a:pPr>
            <a:r>
              <a:rPr dirty="0"/>
              <a:t>✔  Outage Symptom: Latency spike and elevated 500 errors on checkout service.</a:t>
            </a:r>
          </a:p>
          <a:p>
            <a:pPr>
              <a:spcBef>
                <a:spcPts val="800"/>
              </a:spcBef>
              <a:defRPr sz="1250">
                <a:solidFill>
                  <a:srgbClr val="A5B4CE"/>
                </a:solidFill>
                <a:latin typeface="Segoe UI"/>
              </a:defRPr>
            </a:pPr>
            <a:r>
              <a:rPr dirty="0"/>
              <a:t>✔  Root Cause: A database deployment changes max connections from 50 to 10.</a:t>
            </a:r>
          </a:p>
          <a:p>
            <a:pPr>
              <a:spcBef>
                <a:spcPts val="800"/>
              </a:spcBef>
              <a:defRPr sz="1250">
                <a:solidFill>
                  <a:srgbClr val="A5B4CE"/>
                </a:solidFill>
                <a:latin typeface="Segoe UI"/>
              </a:defRPr>
            </a:pPr>
            <a:r>
              <a:rPr dirty="0"/>
              <a:t>✔  Red Herrings: Placed fake Redis key-eviction logs and payment gateway gateway-timeout warnings.</a:t>
            </a:r>
          </a:p>
          <a:p>
            <a:pPr>
              <a:spcBef>
                <a:spcPts val="800"/>
              </a:spcBef>
              <a:defRPr sz="1250">
                <a:solidFill>
                  <a:srgbClr val="A5B4CE"/>
                </a:solidFill>
                <a:latin typeface="Segoe UI"/>
              </a:defRPr>
            </a:pPr>
            <a:r>
              <a:rPr dirty="0"/>
              <a:t>✔  Outcome: </a:t>
            </a:r>
            <a:r>
              <a:rPr dirty="0" err="1"/>
              <a:t>SentrySwarm's</a:t>
            </a:r>
            <a:r>
              <a:rPr dirty="0"/>
              <a:t> Critic successfully rejects the red herrings, and the Judge pinpoints connection-pool exhaustion.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463040"/>
            <a:ext cx="5120640" cy="45720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7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1400"/>
              </a:spcAft>
              <a:defRPr sz="2000" b="1">
                <a:solidFill>
                  <a:srgbClr val="3B82F6"/>
                </a:solidFill>
                <a:latin typeface="Segoe UI"/>
              </a:defRPr>
            </a:pPr>
            <a:r>
              <a:t>⚙  Deploy &amp; Run SentrySwarm</a:t>
            </a:r>
          </a:p>
          <a:p>
            <a:pPr>
              <a:spcBef>
                <a:spcPts val="10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1. Clone the project code:</a:t>
            </a:r>
            <a:br/>
            <a:r>
              <a:t>   git clone https://github.com/AvizRepo/Sentry-Swarm-Agent.git</a:t>
            </a:r>
          </a:p>
          <a:p>
            <a:pPr>
              <a:spcBef>
                <a:spcPts val="10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2. Run locally via Python:</a:t>
            </a:r>
            <a:br/>
            <a:r>
              <a:t>   pip install -r requirements.txt</a:t>
            </a:r>
            <a:br/>
            <a:r>
              <a:t>   cd backend &amp;&amp; uvicorn main:app --reload</a:t>
            </a:r>
          </a:p>
          <a:p>
            <a:pPr>
              <a:spcBef>
                <a:spcPts val="10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3. Run via Docker Compose:</a:t>
            </a:r>
            <a:br/>
            <a:r>
              <a:t>   docker compose up --build</a:t>
            </a:r>
          </a:p>
          <a:p>
            <a:pPr>
              <a:spcBef>
                <a:spcPts val="1000"/>
              </a:spcBef>
              <a:defRPr sz="1200">
                <a:solidFill>
                  <a:srgbClr val="A5B4CE"/>
                </a:solidFill>
                <a:latin typeface="Segoe UI"/>
              </a:defRPr>
            </a:pPr>
            <a:r>
              <a:t>4. Setup Keys &amp; Diagnose:</a:t>
            </a:r>
            <a:br/>
            <a:r>
              <a:t>   Open http://localhost:8000, add API keys in '🔑 Key' modal, and click 'Run Swarm'.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632</Words>
  <Application>Microsoft Office PowerPoint</Application>
  <PresentationFormat>Widescreen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Avinash Yadav</cp:lastModifiedBy>
  <cp:revision>2</cp:revision>
  <dcterms:created xsi:type="dcterms:W3CDTF">2013-01-27T09:14:16Z</dcterms:created>
  <dcterms:modified xsi:type="dcterms:W3CDTF">2026-06-14T16:11:40Z</dcterms:modified>
  <cp:category/>
</cp:coreProperties>
</file>